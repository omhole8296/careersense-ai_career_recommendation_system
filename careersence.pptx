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2606" y="1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Fit %</c:v>
                </c:pt>
              </c:strCache>
            </c:strRef>
          </c:tx>
          <c:spPr>
            <a:solidFill>
              <a:srgbClr val="C99A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Data Scientist</c:v>
                </c:pt>
                <c:pt idx="1">
                  <c:v>Data Analyst</c:v>
                </c:pt>
                <c:pt idx="2">
                  <c:v>ML Engineer</c:v>
                </c:pt>
                <c:pt idx="3">
                  <c:v>Business Analyst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</c:v>
                </c:pt>
                <c:pt idx="1">
                  <c:v>82</c:v>
                </c:pt>
                <c:pt idx="2">
                  <c:v>71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4-4F28-A2E9-77AA886EA2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67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9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PROJECT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Student Career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Intelligence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4709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Neural Nexus
</a:t>
            </a:r>
            <a:r>
              <a:rPr lang="en-US" sz="13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struggle to identify the right career path based on their individual skills, interests, academic performance, and goals.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generally provide generic recommendations or job listings — an intelligent, personalized, explainable, data-driven system is needed instead.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46520" y="150876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F7F6F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2286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skill gap analysis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0" y="2944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898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career recommendations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766560" y="36027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35570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AI-based suggestions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42611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4215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market insights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66560" y="491947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4873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roadmaps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66560" y="55778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Job-readiness prediction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shortcomings of existing career-guidance platforms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Personalization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often provide generic suggestions.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203911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1144" y="265176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Skill Gap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aren't clearly told which skills they're missing.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203911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265176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Explainability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systems don't explain why a career is recommended.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892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Job Market Integration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aren't connected to current industry requirements.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1144" y="427939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81144" y="4892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Dynamic Roadmaps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recommendations rarely update with industry demand.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7F6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4279392"/>
            <a:ext cx="457200" cy="457200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57616" y="48920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Readiness Prediction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lack an estimate of readiness for a target role.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6184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Career Intelligence Platform for students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suitable career paths from skills, interests, academic performance, projects, and certifications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32504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95935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personalized skill gap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202936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512978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Explainable AI mechanism showing why a career is recommended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16184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job market trends and identify in-demand industry skills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862072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7889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personalized learning and career 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032504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95935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student's career or job readiness score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5202936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202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512978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projects, courses, and certifications to improve employability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Machine Learning, NLP, Data Analytics, and Explainable AI for personalized career guidance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6654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206654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Career Recommendation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07238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Detection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088" y="307238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288036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Intelligence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07822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8862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407822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88620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Roadmap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89204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Readiness Score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89204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33" name="Shape 31"/>
          <p:cNvSpPr/>
          <p:nvPr/>
        </p:nvSpPr>
        <p:spPr>
          <a:xfrm>
            <a:off x="6419088" y="508406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489204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Recommendations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8978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608990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6089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589788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Progress Tracking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58978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233327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9088" y="6089904"/>
            <a:ext cx="457200" cy="45720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6089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589788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from student input to dashboard</a:t>
            </a:r>
            <a:endParaRPr lang="en-US" sz="13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84A89B-AE96-FEFE-5A4F-6F0371275BA5}"/>
              </a:ext>
            </a:extLst>
          </p:cNvPr>
          <p:cNvGrpSpPr/>
          <p:nvPr/>
        </p:nvGrpSpPr>
        <p:grpSpPr>
          <a:xfrm>
            <a:off x="5545836" y="292608"/>
            <a:ext cx="5120640" cy="6272784"/>
            <a:chOff x="3534156" y="1691640"/>
            <a:chExt cx="5120640" cy="6272784"/>
          </a:xfrm>
        </p:grpSpPr>
        <p:sp>
          <p:nvSpPr>
            <p:cNvPr id="4" name="Shape 2"/>
            <p:cNvSpPr/>
            <p:nvPr/>
          </p:nvSpPr>
          <p:spPr>
            <a:xfrm>
              <a:off x="4082796" y="169164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1C2B22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4219956" y="169164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</a:t>
              </a:r>
              <a:endParaRPr lang="en-US" sz="11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094476" y="220370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7" name="Shape 5"/>
            <p:cNvSpPr/>
            <p:nvPr/>
          </p:nvSpPr>
          <p:spPr>
            <a:xfrm>
              <a:off x="4082796" y="251460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F7F6F0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4219956" y="251460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 Profile  (Skills · Interests · CGPA · Projects · Certifications)</a:t>
              </a:r>
              <a:endParaRPr lang="en-US" sz="11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94476" y="302666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10" name="Shape 8"/>
            <p:cNvSpPr/>
            <p:nvPr/>
          </p:nvSpPr>
          <p:spPr>
            <a:xfrm>
              <a:off x="4082796" y="333756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F7F6F0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219956" y="333756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Preprocessing  (Pandas / NumPy · NLP Processing)</a:t>
              </a:r>
              <a:endParaRPr lang="en-US" sz="11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94476" y="384962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13" name="Shape 11"/>
            <p:cNvSpPr/>
            <p:nvPr/>
          </p:nvSpPr>
          <p:spPr>
            <a:xfrm>
              <a:off x="4082796" y="416052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1C2B22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219956" y="416052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Learning — Career Prediction</a:t>
              </a:r>
              <a:endParaRPr lang="en-US" sz="11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94476" y="4672584"/>
              <a:ext cx="0" cy="0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3534156" y="4983480"/>
              <a:ext cx="2331720" cy="512064"/>
            </a:xfrm>
            <a:prstGeom prst="roundRect">
              <a:avLst>
                <a:gd name="adj" fmla="val 10714"/>
              </a:avLst>
            </a:prstGeom>
            <a:solidFill>
              <a:srgbClr val="F7F6F0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3534156" y="4983480"/>
              <a:ext cx="2331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 Gap Analysis</a:t>
              </a:r>
              <a:endParaRPr lang="en-US" sz="11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94476" y="4672584"/>
              <a:ext cx="228600" cy="0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19" name="Shape 17"/>
            <p:cNvSpPr/>
            <p:nvPr/>
          </p:nvSpPr>
          <p:spPr>
            <a:xfrm>
              <a:off x="6323076" y="4983480"/>
              <a:ext cx="2331720" cy="512064"/>
            </a:xfrm>
            <a:prstGeom prst="roundRect">
              <a:avLst>
                <a:gd name="adj" fmla="val 10714"/>
              </a:avLst>
            </a:prstGeom>
            <a:solidFill>
              <a:srgbClr val="F7F6F0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6323076" y="4983480"/>
              <a:ext cx="2331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 Market Intelligence</a:t>
              </a:r>
              <a:endParaRPr lang="en-US" sz="11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700016" y="5495544"/>
              <a:ext cx="139446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7488936" y="549554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23" name="Shape 21"/>
            <p:cNvSpPr/>
            <p:nvPr/>
          </p:nvSpPr>
          <p:spPr>
            <a:xfrm>
              <a:off x="4082796" y="580644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1C2B22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219956" y="580644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Explainable AI Recommendation</a:t>
              </a:r>
              <a:endParaRPr lang="en-US" sz="11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94476" y="631850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26" name="Shape 24"/>
            <p:cNvSpPr/>
            <p:nvPr/>
          </p:nvSpPr>
          <p:spPr>
            <a:xfrm>
              <a:off x="4082796" y="662940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F7F6F0"/>
            </a:solidFill>
            <a:ln/>
          </p:spPr>
        </p:sp>
        <p:sp>
          <p:nvSpPr>
            <p:cNvPr id="27" name="Text 25"/>
            <p:cNvSpPr/>
            <p:nvPr/>
          </p:nvSpPr>
          <p:spPr>
            <a:xfrm>
              <a:off x="4219956" y="6629400"/>
              <a:ext cx="3749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Career Roadmap  (Courses &amp; Projects)</a:t>
              </a:r>
              <a:endParaRPr lang="en-US" sz="11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094476" y="7141464"/>
              <a:ext cx="0" cy="310896"/>
            </a:xfrm>
            <a:prstGeom prst="line">
              <a:avLst/>
            </a:prstGeom>
            <a:noFill/>
            <a:ln w="22225">
              <a:solidFill>
                <a:srgbClr val="4C5B48"/>
              </a:solidFill>
              <a:prstDash val="solid"/>
              <a:tailEnd type="triangle"/>
            </a:ln>
          </p:spPr>
        </p:sp>
        <p:sp>
          <p:nvSpPr>
            <p:cNvPr id="29" name="Shape 27"/>
            <p:cNvSpPr/>
            <p:nvPr/>
          </p:nvSpPr>
          <p:spPr>
            <a:xfrm>
              <a:off x="4082796" y="7452360"/>
              <a:ext cx="4023360" cy="512064"/>
            </a:xfrm>
            <a:prstGeom prst="roundRect">
              <a:avLst>
                <a:gd name="adj" fmla="val 10714"/>
              </a:avLst>
            </a:prstGeom>
            <a:solidFill>
              <a:srgbClr val="C99A44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082796" y="7452360"/>
              <a:ext cx="40233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C2B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 Dashboard</a:t>
              </a:r>
              <a:endParaRPr lang="en-US" sz="12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from raw student input to visualized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57400" cy="4572000"/>
          </a:xfrm>
          <a:prstGeom prst="roundRect">
            <a:avLst>
              <a:gd name="adj" fmla="val 2667"/>
            </a:avLst>
          </a:prstGeom>
          <a:solidFill>
            <a:srgbClr val="F7F6F0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5623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2560320"/>
            <a:ext cx="1801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soft skills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interests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07208" y="1691640"/>
            <a:ext cx="2057400" cy="4572000"/>
          </a:xfrm>
          <a:prstGeom prst="roundRect">
            <a:avLst>
              <a:gd name="adj" fmla="val 2667"/>
            </a:avLst>
          </a:prstGeom>
          <a:solidFill>
            <a:srgbClr val="1C2B22"/>
          </a:solidFill>
          <a:ln/>
        </p:spPr>
      </p:sp>
      <p:sp>
        <p:nvSpPr>
          <p:cNvPr id="8" name="Text 6"/>
          <p:cNvSpPr/>
          <p:nvPr/>
        </p:nvSpPr>
        <p:spPr>
          <a:xfrm>
            <a:off x="2935224" y="185623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35224" y="2560320"/>
            <a:ext cx="1801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resume analysis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normalization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5776" y="1691640"/>
            <a:ext cx="2057400" cy="4572000"/>
          </a:xfrm>
          <a:prstGeom prst="roundRect">
            <a:avLst>
              <a:gd name="adj" fmla="val 2667"/>
            </a:avLst>
          </a:prstGeom>
          <a:solidFill>
            <a:srgbClr val="F7F6F0"/>
          </a:solidFill>
          <a:ln/>
        </p:spPr>
      </p:sp>
      <p:sp>
        <p:nvSpPr>
          <p:cNvPr id="11" name="Text 9"/>
          <p:cNvSpPr/>
          <p:nvPr/>
        </p:nvSpPr>
        <p:spPr>
          <a:xfrm>
            <a:off x="5193792" y="185623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93792" y="2560320"/>
            <a:ext cx="1801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prediction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readiness prediction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trend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24344" y="1691640"/>
            <a:ext cx="2057400" cy="4572000"/>
          </a:xfrm>
          <a:prstGeom prst="roundRect">
            <a:avLst>
              <a:gd name="adj" fmla="val 2667"/>
            </a:avLst>
          </a:prstGeom>
          <a:solidFill>
            <a:srgbClr val="1C2B22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85623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560320"/>
            <a:ext cx="1801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 identification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recommendations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82912" y="1691640"/>
            <a:ext cx="2057400" cy="4572000"/>
          </a:xfrm>
          <a:prstGeom prst="roundRect">
            <a:avLst>
              <a:gd name="adj" fmla="val 2667"/>
            </a:avLst>
          </a:prstGeom>
          <a:solidFill>
            <a:srgbClr val="F7F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710928" y="185623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10928" y="2560320"/>
            <a:ext cx="18013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readiness dashboard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visualization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trends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progress tracking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/ Additional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89280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Skill Gap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exact skills missing between current profile and target career.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9" name="Shape 7"/>
          <p:cNvSpPr/>
          <p:nvPr/>
        </p:nvSpPr>
        <p:spPr>
          <a:xfrm>
            <a:off x="3675888" y="189280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5888" y="24688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75888" y="30175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particular career is recommended.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601968" y="189280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5" name="Text 13"/>
          <p:cNvSpPr/>
          <p:nvPr/>
        </p:nvSpPr>
        <p:spPr>
          <a:xfrm>
            <a:off x="660196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01968" y="24688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30175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industry demand and identifies currently trending skills.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26880" y="169164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8048" y="189280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0" name="Text 18"/>
          <p:cNvSpPr/>
          <p:nvPr/>
        </p:nvSpPr>
        <p:spPr>
          <a:xfrm>
            <a:off x="952804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28048" y="24688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Career Roadmap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30175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step-by-step learning path based on skill gaps.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27024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48463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Readiness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5394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estimated readiness percentage for a selected career.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406908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29" name="Shape 27"/>
          <p:cNvSpPr/>
          <p:nvPr/>
        </p:nvSpPr>
        <p:spPr>
          <a:xfrm>
            <a:off x="3675888" y="427024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758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75888" y="48463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Intelligence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75888" y="5394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resume and identifies missing skills and keywords.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069080"/>
            <a:ext cx="2724912" cy="2148840"/>
          </a:xfrm>
          <a:prstGeom prst="roundRect">
            <a:avLst>
              <a:gd name="adj" fmla="val 2979"/>
            </a:avLst>
          </a:prstGeom>
          <a:solidFill>
            <a:srgbClr val="F7F6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601968" y="4270248"/>
            <a:ext cx="420624" cy="420624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35" name="Text 33"/>
          <p:cNvSpPr/>
          <p:nvPr/>
        </p:nvSpPr>
        <p:spPr>
          <a:xfrm>
            <a:off x="660196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01968" y="484632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Career Tracking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01968" y="53949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recommendations as students complete courses &amp; projects.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Data Science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 across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3327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9202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4837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3327"/>
          </a:solidFill>
          <a:ln/>
        </p:spPr>
      </p:sp>
      <p:sp>
        <p:nvSpPr>
          <p:cNvPr id="8" name="Text 6"/>
          <p:cNvSpPr/>
          <p:nvPr/>
        </p:nvSpPr>
        <p:spPr>
          <a:xfrm>
            <a:off x="6473952" y="192024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837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332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1148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4617720"/>
            <a:ext cx="4837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332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41148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4617720"/>
            <a:ext cx="4837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demand analysis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trend analysis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trend analysis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visualization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Python, SQL, Excel, Pandas · Interests: Data Science, ML · 2 projects · 1 certification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5577840" cy="1783080"/>
          </a:xfrm>
          <a:prstGeom prst="roundRect">
            <a:avLst>
              <a:gd name="adj" fmla="val 3590"/>
            </a:avLst>
          </a:prstGeom>
          <a:solidFill>
            <a:srgbClr val="F7F6F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988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Career: </a:t>
            </a: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   </a:t>
            </a:r>
            <a:r>
              <a:rPr lang="en-US" sz="13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62%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42900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5321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Pandas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29000" y="5321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Statistics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5705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Machine Learning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429000" y="5705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Deep Learning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ROADMAP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1965960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1984248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1984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38544" y="2350008"/>
            <a:ext cx="0" cy="256032"/>
          </a:xfrm>
          <a:prstGeom prst="line">
            <a:avLst/>
          </a:prstGeom>
          <a:noFill/>
          <a:ln w="15875">
            <a:solidFill>
              <a:srgbClr val="4C5B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2624328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95160" y="2642616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23" name="Text 20"/>
          <p:cNvSpPr/>
          <p:nvPr/>
        </p:nvSpPr>
        <p:spPr>
          <a:xfrm>
            <a:off x="7178040" y="2642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38544" y="3008376"/>
            <a:ext cx="0" cy="256032"/>
          </a:xfrm>
          <a:prstGeom prst="line">
            <a:avLst/>
          </a:prstGeom>
          <a:noFill/>
          <a:ln w="15875">
            <a:solidFill>
              <a:srgbClr val="4C5B4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46520" y="3282696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6" name="Text 23"/>
          <p:cNvSpPr/>
          <p:nvPr/>
        </p:nvSpPr>
        <p:spPr>
          <a:xfrm>
            <a:off x="644652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95160" y="3300984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28" name="Text 25"/>
          <p:cNvSpPr/>
          <p:nvPr/>
        </p:nvSpPr>
        <p:spPr>
          <a:xfrm>
            <a:off x="717804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638544" y="3666744"/>
            <a:ext cx="0" cy="256032"/>
          </a:xfrm>
          <a:prstGeom prst="line">
            <a:avLst/>
          </a:prstGeom>
          <a:noFill/>
          <a:ln w="15875">
            <a:solidFill>
              <a:srgbClr val="4C5B4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46520" y="3941064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31" name="Text 28"/>
          <p:cNvSpPr/>
          <p:nvPr/>
        </p:nvSpPr>
        <p:spPr>
          <a:xfrm>
            <a:off x="64465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95160" y="3959352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33" name="Text 30"/>
          <p:cNvSpPr/>
          <p:nvPr/>
        </p:nvSpPr>
        <p:spPr>
          <a:xfrm>
            <a:off x="7178040" y="3959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638544" y="4325112"/>
            <a:ext cx="0" cy="256032"/>
          </a:xfrm>
          <a:prstGeom prst="line">
            <a:avLst/>
          </a:prstGeom>
          <a:noFill/>
          <a:ln w="15875">
            <a:solidFill>
              <a:srgbClr val="4C5B4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4599432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36" name="Text 33"/>
          <p:cNvSpPr/>
          <p:nvPr/>
        </p:nvSpPr>
        <p:spPr>
          <a:xfrm>
            <a:off x="644652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995160" y="461772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38" name="Text 35"/>
          <p:cNvSpPr/>
          <p:nvPr/>
        </p:nvSpPr>
        <p:spPr>
          <a:xfrm>
            <a:off x="717804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Projects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638544" y="4983480"/>
            <a:ext cx="0" cy="256032"/>
          </a:xfrm>
          <a:prstGeom prst="line">
            <a:avLst/>
          </a:prstGeom>
          <a:noFill/>
          <a:ln w="15875">
            <a:solidFill>
              <a:srgbClr val="4C5B4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46520" y="5257800"/>
            <a:ext cx="384048" cy="384048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41" name="Text 38"/>
          <p:cNvSpPr/>
          <p:nvPr/>
        </p:nvSpPr>
        <p:spPr>
          <a:xfrm>
            <a:off x="644652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995160" y="5276088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F7F6F0"/>
          </a:solidFill>
          <a:ln/>
        </p:spPr>
      </p:sp>
      <p:sp>
        <p:nvSpPr>
          <p:cNvPr id="43" name="Text 40"/>
          <p:cNvSpPr/>
          <p:nvPr/>
        </p:nvSpPr>
        <p:spPr>
          <a:xfrm>
            <a:off x="7178040" y="5276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Interview Prep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Bootstrap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9164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494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2494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249424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2494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2494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07208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807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807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807208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2807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2807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364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Plotly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364992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3364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22776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9227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3922776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7F6F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9227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3816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48056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480560"/>
            <a:ext cx="5349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38160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Cloud Platform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make data-driven career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1691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confusion while selecting a suitable career path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9077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individual skill gaps with actionable recommendations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99232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07792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understand real industry requirements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123944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continuous learning and skill development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215384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4123944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student employability and job readiness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31536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340096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career guidance to students without access to counselors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5431536"/>
            <a:ext cx="384048" cy="384048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5340096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transparent, explainable use of AI in career decisions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924812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248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live job portals and job market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8" name="Shape 6"/>
          <p:cNvSpPr/>
          <p:nvPr/>
        </p:nvSpPr>
        <p:spPr>
          <a:xfrm>
            <a:off x="6382512" y="1924812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19248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industry skill demand prediction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848356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483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15184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for career guidance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615184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2848356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8483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615184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LinkedIn profiles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771900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71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538728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generation and optimization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538728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2512" y="3771900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3771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538728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using Generative AI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462272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695444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6954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46227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coding and technical assessments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462272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82512" y="4695444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46954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4462272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 based on skills and experience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385816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5618988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" y="5618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5385816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for students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385816"/>
            <a:ext cx="5349240" cy="795528"/>
          </a:xfrm>
          <a:prstGeom prst="roundRect">
            <a:avLst>
              <a:gd name="adj" fmla="val 6897"/>
            </a:avLst>
          </a:prstGeom>
          <a:solidFill>
            <a:srgbClr val="F7F6F0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2512" y="5618988"/>
            <a:ext cx="329184" cy="329184"/>
          </a:xfrm>
          <a:prstGeom prst="ellipse">
            <a:avLst/>
          </a:prstGeom>
          <a:solidFill>
            <a:srgbClr val="1C2B22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5618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5385816"/>
            <a:ext cx="4572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Student Career &amp; Skill Intelligence Platform gives students personalized, intelligent, data-driven career guidance — combining Machine Learning, NLP, Data Analytics, Explainable AI, and Job Market Intelligence.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402336" cy="402336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suitable career paths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2880360"/>
            <a:ext cx="402336" cy="402336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their skill gaps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2880360"/>
            <a:ext cx="402336" cy="402336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their career readiness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2880360"/>
            <a:ext cx="402336" cy="402336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industry-demanded skills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0" y="2880360"/>
            <a:ext cx="402336" cy="402336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7260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personalized learning roadmaps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333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9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system serves as an intelligent career decision-support platform that bridges the gap between student skills and industry requirements.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9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74436" y="4251960"/>
            <a:ext cx="640080" cy="640080"/>
          </a:xfrm>
          <a:prstGeom prst="ellipse">
            <a:avLst/>
          </a:prstGeom>
          <a:solidFill>
            <a:srgbClr val="C99A44"/>
          </a:solidFill>
          <a:ln/>
        </p:spPr>
      </p:sp>
      <p:sp>
        <p:nvSpPr>
          <p:cNvPr id="5" name="Text 3"/>
          <p:cNvSpPr/>
          <p:nvPr/>
        </p:nvSpPr>
        <p:spPr>
          <a:xfrm>
            <a:off x="577443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Neural Nexus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CareerSense · Neural Nexus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1050</Words>
  <Application>Microsoft Office PowerPoint</Application>
  <PresentationFormat>Widescreen</PresentationFormat>
  <Paragraphs>314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 Hole</cp:lastModifiedBy>
  <cp:revision>2</cp:revision>
  <dcterms:created xsi:type="dcterms:W3CDTF">2026-07-26T15:51:11Z</dcterms:created>
  <dcterms:modified xsi:type="dcterms:W3CDTF">2026-07-27T08:25:42Z</dcterms:modified>
</cp:coreProperties>
</file>